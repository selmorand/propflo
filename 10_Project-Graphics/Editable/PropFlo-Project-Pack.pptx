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666750" y="1428750"/>
            <a:ext cx="10858500" cy="38100"/>
          </a:xfrm>
          <a:prstGeom prst="rect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666750" y="1619250"/>
            <a:ext cx="10858500" cy="8572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3200" b="1">
                <a:solidFill>
                  <a:srgbClr val="1A1A1A"/>
                </a:solidFill>
                <a:latin typeface="Arial"/>
              </a:rPr>
              <a:t>PropFlo Marketing Launch Programme</a:t>
            </a:r>
          </a:p>
        </p:txBody>
      </p:sp>
      <p:sp>
        <p:nvSpPr>
          <p:cNvPr id="13" name="s13"/>
          <p:cNvSpPr/>
          <p:nvPr/>
        </p:nvSpPr>
        <p:spPr>
          <a:xfrm>
            <a:off x="666750" y="2571750"/>
            <a:ext cx="10858500" cy="381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400" b="0">
                <a:solidFill>
                  <a:srgbClr val="1A1A1A"/>
                </a:solidFill>
                <a:latin typeface="Arial"/>
              </a:rPr>
              <a:t>Project Management Pack — editable (CPM/PERT schedule, Gantt, milestones, RACI, risk)</a:t>
            </a:r>
          </a:p>
        </p:txBody>
      </p:sp>
      <p:sp>
        <p:nvSpPr>
          <p:cNvPr id="14" name="s14"/>
          <p:cNvSpPr/>
          <p:nvPr/>
        </p:nvSpPr>
        <p:spPr>
          <a:xfrm>
            <a:off x="666750" y="304800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100" b="0">
                <a:solidFill>
                  <a:srgbClr val="5A6672"/>
                </a:solidFill>
                <a:latin typeface="Arial"/>
              </a:rPr>
              <a:t>Prepared by Interon · Commercial in confidence · Working draft · All costs ex VAT</a:t>
            </a:r>
          </a:p>
        </p:txBody>
      </p:sp>
      <p:sp>
        <p:nvSpPr>
          <p:cNvPr id="15" name="s15"/>
          <p:cNvSpPr/>
          <p:nvPr/>
        </p:nvSpPr>
        <p:spPr>
          <a:xfrm>
            <a:off x="666750" y="533400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100" b="0">
                <a:solidFill>
                  <a:srgbClr val="5A6672"/>
                </a:solidFill>
                <a:latin typeface="Arial"/>
              </a:rPr>
              <a:t>Calculated by Critical Path Method. Stage A = 49 working days (~10 wks); programme ~159 calendar days (~5.2 months).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16"/>
          <p:cNvSpPr/>
          <p:nvPr/>
        </p:nvSpPr>
        <p:spPr>
          <a:xfrm>
            <a:off x="666750" y="571500"/>
            <a:ext cx="10858500" cy="381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Arial"/>
              </a:rPr>
              <a:t>Project Summary</a:t>
            </a:r>
          </a:p>
        </p:txBody>
      </p:sp>
      <p:sp>
        <p:nvSpPr>
          <p:cNvPr id="17" name="s17"/>
          <p:cNvSpPr/>
          <p:nvPr/>
        </p:nvSpPr>
        <p:spPr>
          <a:xfrm>
            <a:off x="666750" y="1047750"/>
            <a:ext cx="10858500" cy="2857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8" name="s18"/>
          <p:cNvSpPr/>
          <p:nvPr/>
        </p:nvSpPr>
        <p:spPr>
          <a:xfrm>
            <a:off x="666750" y="1333500"/>
            <a:ext cx="10858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400" b="0">
                <a:solidFill>
                  <a:srgbClr val="1A1A1A"/>
                </a:solidFill>
                <a:latin typeface="Arial"/>
              </a:rPr>
              <a:t>•  Two stages: Stage A (preparation) then Stage B (true 90-day live campaign). The 90-day clock starts at launch.</a:t>
            </a:r>
          </a:p>
        </p:txBody>
      </p:sp>
      <p:sp>
        <p:nvSpPr>
          <p:cNvPr id="19" name="s19"/>
          <p:cNvSpPr/>
          <p:nvPr/>
        </p:nvSpPr>
        <p:spPr>
          <a:xfrm>
            <a:off x="666750" y="2152650"/>
            <a:ext cx="10858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400" b="0">
                <a:solidFill>
                  <a:srgbClr val="1A1A1A"/>
                </a:solidFill>
                <a:latin typeface="Arial"/>
              </a:rPr>
              <a:t>•  Calculated Stage A: 49 working days (~10 weeks; ~15 weeks pessimistic).</a:t>
            </a:r>
          </a:p>
        </p:txBody>
      </p:sp>
      <p:sp>
        <p:nvSpPr>
          <p:cNvPr id="20" name="s20"/>
          <p:cNvSpPr/>
          <p:nvPr/>
        </p:nvSpPr>
        <p:spPr>
          <a:xfrm>
            <a:off x="666750" y="2971800"/>
            <a:ext cx="10858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400" b="0">
                <a:solidFill>
                  <a:srgbClr val="1A1A1A"/>
                </a:solidFill>
                <a:latin typeface="Arial"/>
              </a:rPr>
              <a:t>•  Critical path: compliance → landing-page copy &amp; build → pages approval → tracking test → campaign build → testing → launch.</a:t>
            </a:r>
          </a:p>
        </p:txBody>
      </p:sp>
      <p:sp>
        <p:nvSpPr>
          <p:cNvPr id="21" name="s21"/>
          <p:cNvSpPr/>
          <p:nvPr/>
        </p:nvSpPr>
        <p:spPr>
          <a:xfrm>
            <a:off x="666750" y="3790950"/>
            <a:ext cx="10858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400" b="0">
                <a:solidFill>
                  <a:srgbClr val="1A1A1A"/>
                </a:solidFill>
                <a:latin typeface="Arial"/>
              </a:rPr>
              <a:t>•  Budget ex VAT: R233,500–R283,500 across overlap scenarios; R32,000/month management after Day 90. Platform build separate.</a:t>
            </a:r>
          </a:p>
        </p:txBody>
      </p:sp>
      <p:sp>
        <p:nvSpPr>
          <p:cNvPr id="22" name="s22"/>
          <p:cNvSpPr/>
          <p:nvPr/>
        </p:nvSpPr>
        <p:spPr>
          <a:xfrm>
            <a:off x="666750" y="4610100"/>
            <a:ext cx="10858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9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400" b="0">
                <a:solidFill>
                  <a:srgbClr val="1A1A1A"/>
                </a:solidFill>
                <a:latin typeface="Arial"/>
              </a:rPr>
              <a:t>•  Unresolved commercial items (B1–B7) are flagged, not resolved.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23"/>
          <p:cNvSpPr/>
          <p:nvPr/>
        </p:nvSpPr>
        <p:spPr>
          <a:xfrm>
            <a:off x="666750" y="476250"/>
            <a:ext cx="1085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2000" b="1">
                <a:solidFill>
                  <a:srgbClr val="1A1A1A"/>
                </a:solidFill>
                <a:latin typeface="Arial"/>
              </a:rPr>
              <a:t>Critical Path (Stage A) — dark boxes = milestone gates</a:t>
            </a:r>
          </a:p>
        </p:txBody>
      </p:sp>
      <p:cxnSp>
        <p:nvCxnSpPr>
          <p:cNvPr id="24" name="c24"/>
          <p:cNvCxnSpPr/>
          <p:nvPr/>
        </p:nvCxnSpPr>
        <p:spPr>
          <a:xfrm>
            <a:off x="2571750" y="13811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25" name="c25"/>
          <p:cNvCxnSpPr/>
          <p:nvPr/>
        </p:nvCxnSpPr>
        <p:spPr>
          <a:xfrm>
            <a:off x="4762500" y="13811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26" name="c26"/>
          <p:cNvCxnSpPr/>
          <p:nvPr/>
        </p:nvCxnSpPr>
        <p:spPr>
          <a:xfrm>
            <a:off x="6953250" y="13811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27" name="c27"/>
          <p:cNvCxnSpPr/>
          <p:nvPr/>
        </p:nvCxnSpPr>
        <p:spPr>
          <a:xfrm>
            <a:off x="9144000" y="13811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28" name="c28"/>
          <p:cNvCxnSpPr/>
          <p:nvPr/>
        </p:nvCxnSpPr>
        <p:spPr>
          <a:xfrm>
            <a:off x="10382250" y="1714500"/>
            <a:ext cx="9525" cy="400050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29" name="c29"/>
          <p:cNvCxnSpPr/>
          <p:nvPr/>
        </p:nvCxnSpPr>
        <p:spPr>
          <a:xfrm flipH="1">
            <a:off x="9144000" y="24479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0" name="c30"/>
          <p:cNvCxnSpPr/>
          <p:nvPr/>
        </p:nvCxnSpPr>
        <p:spPr>
          <a:xfrm flipH="1">
            <a:off x="6953250" y="24479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1" name="c31"/>
          <p:cNvCxnSpPr/>
          <p:nvPr/>
        </p:nvCxnSpPr>
        <p:spPr>
          <a:xfrm flipH="1">
            <a:off x="4762500" y="24479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2" name="c32"/>
          <p:cNvCxnSpPr/>
          <p:nvPr/>
        </p:nvCxnSpPr>
        <p:spPr>
          <a:xfrm flipH="1">
            <a:off x="2571750" y="24479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3" name="c33"/>
          <p:cNvCxnSpPr/>
          <p:nvPr/>
        </p:nvCxnSpPr>
        <p:spPr>
          <a:xfrm>
            <a:off x="1619250" y="2781300"/>
            <a:ext cx="9525" cy="400050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4" name="c34"/>
          <p:cNvCxnSpPr/>
          <p:nvPr/>
        </p:nvCxnSpPr>
        <p:spPr>
          <a:xfrm>
            <a:off x="2571750" y="35147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5" name="c35"/>
          <p:cNvCxnSpPr/>
          <p:nvPr/>
        </p:nvCxnSpPr>
        <p:spPr>
          <a:xfrm>
            <a:off x="4762500" y="35147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6" name="c36"/>
          <p:cNvCxnSpPr/>
          <p:nvPr/>
        </p:nvCxnSpPr>
        <p:spPr>
          <a:xfrm>
            <a:off x="6953250" y="35147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7" name="c37"/>
          <p:cNvCxnSpPr/>
          <p:nvPr/>
        </p:nvCxnSpPr>
        <p:spPr>
          <a:xfrm>
            <a:off x="9144000" y="35147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8" name="c38"/>
          <p:cNvCxnSpPr/>
          <p:nvPr/>
        </p:nvCxnSpPr>
        <p:spPr>
          <a:xfrm>
            <a:off x="10382250" y="3848100"/>
            <a:ext cx="9525" cy="400050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39" name="c39"/>
          <p:cNvCxnSpPr/>
          <p:nvPr/>
        </p:nvCxnSpPr>
        <p:spPr>
          <a:xfrm flipH="1">
            <a:off x="9144000" y="45815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40" name="c40"/>
          <p:cNvCxnSpPr/>
          <p:nvPr/>
        </p:nvCxnSpPr>
        <p:spPr>
          <a:xfrm flipH="1">
            <a:off x="6953250" y="45815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cxnSp>
        <p:nvCxnSpPr>
          <p:cNvPr id="41" name="c41"/>
          <p:cNvCxnSpPr/>
          <p:nvPr/>
        </p:nvCxnSpPr>
        <p:spPr>
          <a:xfrm flipH="1">
            <a:off x="4762500" y="4581525"/>
            <a:ext cx="285750" cy="9525"/>
          </a:xfrm>
          <a:prstGeom prst="line">
            <a:avLst/>
          </a:prstGeom>
          <a:ln w="19050">
            <a:solidFill>
              <a:srgbClr val="B5322F"/>
            </a:solidFill>
          </a:ln>
        </p:spPr>
      </p:cxnSp>
      <p:sp>
        <p:nvSpPr>
          <p:cNvPr id="42" name="s42"/>
          <p:cNvSpPr/>
          <p:nvPr/>
        </p:nvSpPr>
        <p:spPr>
          <a:xfrm>
            <a:off x="666750" y="1047750"/>
            <a:ext cx="1905000" cy="66675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◆ A0</a:t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Project authorisation</a:t>
            </a:r>
          </a:p>
        </p:txBody>
      </p:sp>
      <p:sp>
        <p:nvSpPr>
          <p:cNvPr id="43" name="s43"/>
          <p:cNvSpPr/>
          <p:nvPr/>
        </p:nvSpPr>
        <p:spPr>
          <a:xfrm>
            <a:off x="2857500" y="10477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A1  (2d)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Kick-off &amp; roles</a:t>
            </a:r>
          </a:p>
        </p:txBody>
      </p:sp>
      <p:sp>
        <p:nvSpPr>
          <p:cNvPr id="44" name="s44"/>
          <p:cNvSpPr/>
          <p:nvPr/>
        </p:nvSpPr>
        <p:spPr>
          <a:xfrm>
            <a:off x="5048250" y="10477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A2  (1d)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Stakeholder confirm</a:t>
            </a:r>
          </a:p>
        </p:txBody>
      </p:sp>
      <p:sp>
        <p:nvSpPr>
          <p:cNvPr id="45" name="s45"/>
          <p:cNvSpPr/>
          <p:nvPr/>
        </p:nvSpPr>
        <p:spPr>
          <a:xfrm>
            <a:off x="7239000" y="10477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A5  (6d)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Discovery &amp; compliance</a:t>
            </a:r>
          </a:p>
        </p:txBody>
      </p:sp>
      <p:sp>
        <p:nvSpPr>
          <p:cNvPr id="46" name="s46"/>
          <p:cNvSpPr/>
          <p:nvPr/>
        </p:nvSpPr>
        <p:spPr>
          <a:xfrm>
            <a:off x="9429750" y="10477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A6  (3d)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Compliance questions</a:t>
            </a:r>
          </a:p>
        </p:txBody>
      </p:sp>
      <p:sp>
        <p:nvSpPr>
          <p:cNvPr id="47" name="s47"/>
          <p:cNvSpPr/>
          <p:nvPr/>
        </p:nvSpPr>
        <p:spPr>
          <a:xfrm>
            <a:off x="9429750" y="21145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A7  (6d)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Approved claims</a:t>
            </a:r>
          </a:p>
        </p:txBody>
      </p:sp>
      <p:sp>
        <p:nvSpPr>
          <p:cNvPr id="48" name="s48"/>
          <p:cNvSpPr/>
          <p:nvPr/>
        </p:nvSpPr>
        <p:spPr>
          <a:xfrm>
            <a:off x="7239000" y="21145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A9  (3d)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Required disclaimers</a:t>
            </a:r>
          </a:p>
        </p:txBody>
      </p:sp>
      <p:sp>
        <p:nvSpPr>
          <p:cNvPr id="49" name="s49"/>
          <p:cNvSpPr/>
          <p:nvPr/>
        </p:nvSpPr>
        <p:spPr>
          <a:xfrm>
            <a:off x="5048250" y="2114550"/>
            <a:ext cx="1905000" cy="66675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◆ M1</a:t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Compliance &amp; claims approved</a:t>
            </a:r>
          </a:p>
        </p:txBody>
      </p:sp>
      <p:sp>
        <p:nvSpPr>
          <p:cNvPr id="50" name="s50"/>
          <p:cNvSpPr/>
          <p:nvPr/>
        </p:nvSpPr>
        <p:spPr>
          <a:xfrm>
            <a:off x="2857500" y="21145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A18  (6d)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Landing page copy</a:t>
            </a:r>
          </a:p>
        </p:txBody>
      </p:sp>
      <p:sp>
        <p:nvSpPr>
          <p:cNvPr id="51" name="s51"/>
          <p:cNvSpPr/>
          <p:nvPr/>
        </p:nvSpPr>
        <p:spPr>
          <a:xfrm>
            <a:off x="666750" y="21145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A19  (11d)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Landing page build</a:t>
            </a:r>
          </a:p>
        </p:txBody>
      </p:sp>
      <p:sp>
        <p:nvSpPr>
          <p:cNvPr id="52" name="s52"/>
          <p:cNvSpPr/>
          <p:nvPr/>
        </p:nvSpPr>
        <p:spPr>
          <a:xfrm>
            <a:off x="666750" y="31813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A21  (2d)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Landing page QA</a:t>
            </a:r>
          </a:p>
        </p:txBody>
      </p:sp>
      <p:sp>
        <p:nvSpPr>
          <p:cNvPr id="53" name="s53"/>
          <p:cNvSpPr/>
          <p:nvPr/>
        </p:nvSpPr>
        <p:spPr>
          <a:xfrm>
            <a:off x="2857500" y="3181350"/>
            <a:ext cx="1905000" cy="66675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◆ M3</a:t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Landing pages approved</a:t>
            </a:r>
          </a:p>
        </p:txBody>
      </p:sp>
      <p:sp>
        <p:nvSpPr>
          <p:cNvPr id="54" name="s54"/>
          <p:cNvSpPr/>
          <p:nvPr/>
        </p:nvSpPr>
        <p:spPr>
          <a:xfrm>
            <a:off x="5048250" y="31813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A26  (2d)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Tracking end-to-end test</a:t>
            </a:r>
          </a:p>
        </p:txBody>
      </p:sp>
      <p:sp>
        <p:nvSpPr>
          <p:cNvPr id="55" name="s55"/>
          <p:cNvSpPr/>
          <p:nvPr/>
        </p:nvSpPr>
        <p:spPr>
          <a:xfrm>
            <a:off x="7239000" y="3181350"/>
            <a:ext cx="1905000" cy="66675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◆ M4</a:t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Tracking approved</a:t>
            </a:r>
          </a:p>
        </p:txBody>
      </p:sp>
      <p:sp>
        <p:nvSpPr>
          <p:cNvPr id="56" name="s56"/>
          <p:cNvSpPr/>
          <p:nvPr/>
        </p:nvSpPr>
        <p:spPr>
          <a:xfrm>
            <a:off x="9429750" y="31813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A33  (3d)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Campaign build</a:t>
            </a:r>
          </a:p>
        </p:txBody>
      </p:sp>
      <p:sp>
        <p:nvSpPr>
          <p:cNvPr id="57" name="s57"/>
          <p:cNvSpPr/>
          <p:nvPr/>
        </p:nvSpPr>
        <p:spPr>
          <a:xfrm>
            <a:off x="9429750" y="4248150"/>
            <a:ext cx="1905000" cy="66675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◆ M6</a:t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Campaigns approved</a:t>
            </a:r>
          </a:p>
        </p:txBody>
      </p:sp>
      <p:sp>
        <p:nvSpPr>
          <p:cNvPr id="58" name="s58"/>
          <p:cNvSpPr/>
          <p:nvPr/>
        </p:nvSpPr>
        <p:spPr>
          <a:xfrm>
            <a:off x="7239000" y="42481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A37  (3d)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Pre-launch testing</a:t>
            </a:r>
          </a:p>
        </p:txBody>
      </p:sp>
      <p:sp>
        <p:nvSpPr>
          <p:cNvPr id="59" name="s59"/>
          <p:cNvSpPr/>
          <p:nvPr/>
        </p:nvSpPr>
        <p:spPr>
          <a:xfrm>
            <a:off x="5048250" y="4248150"/>
            <a:ext cx="1905000" cy="666750"/>
          </a:xfrm>
          <a:prstGeom prst="rect">
            <a:avLst/>
          </a:prstGeom>
          <a:solidFill>
            <a:srgbClr val="FFFFFF"/>
          </a:solidFill>
          <a:ln w="25400">
            <a:solidFill>
              <a:srgbClr val="B5322F"/>
            </a:solidFill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A38  (1d)</a:t>
            </a:r>
          </a:p>
          <a:p>
            <a:pPr algn="l"/>
            <a:r>
              <a:rPr lang="en-US" sz="1000" b="0">
                <a:solidFill>
                  <a:srgbClr val="1A1A1A"/>
                </a:solidFill>
                <a:latin typeface="Arial"/>
              </a:rPr>
              <a:t>Launch checklist</a:t>
            </a:r>
          </a:p>
        </p:txBody>
      </p:sp>
      <p:sp>
        <p:nvSpPr>
          <p:cNvPr id="60" name="s60"/>
          <p:cNvSpPr/>
          <p:nvPr/>
        </p:nvSpPr>
        <p:spPr>
          <a:xfrm>
            <a:off x="2857500" y="4248150"/>
            <a:ext cx="1905000" cy="66675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◆ M7</a:t>
            </a:r>
          </a:p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</a:rPr>
              <a:t>CONTROLLED LAUNCH</a:t>
            </a:r>
          </a:p>
        </p:txBody>
      </p:sp>
      <p:sp>
        <p:nvSpPr>
          <p:cNvPr id="61" name="s61"/>
          <p:cNvSpPr/>
          <p:nvPr/>
        </p:nvSpPr>
        <p:spPr>
          <a:xfrm>
            <a:off x="666750" y="619125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200" b="1">
                <a:solidFill>
                  <a:srgbClr val="B5322F"/>
                </a:solidFill>
                <a:latin typeface="Arial"/>
              </a:rPr>
              <a:t>→ then Stage B (from launch): Day 0 → 7 → 14 → 30 → 45 → 60 → 75 → 90 scale decision (true 90 live days).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62"/>
          <p:cNvSpPr/>
          <p:nvPr/>
        </p:nvSpPr>
        <p:spPr>
          <a:xfrm>
            <a:off x="666750" y="476250"/>
            <a:ext cx="1085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2000" b="1">
                <a:solidFill>
                  <a:srgbClr val="1A1A1A"/>
                </a:solidFill>
                <a:latin typeface="Arial"/>
              </a:rPr>
              <a:t>Milestone Timeline (even spacing, not to day-scale)</a:t>
            </a:r>
          </a:p>
        </p:txBody>
      </p:sp>
      <p:cxnSp>
        <p:nvCxnSpPr>
          <p:cNvPr id="63" name="c63"/>
          <p:cNvCxnSpPr/>
          <p:nvPr/>
        </p:nvCxnSpPr>
        <p:spPr>
          <a:xfrm>
            <a:off x="857250" y="3429000"/>
            <a:ext cx="10058400" cy="9525"/>
          </a:xfrm>
          <a:prstGeom prst="line">
            <a:avLst/>
          </a:prstGeom>
          <a:ln w="19050">
            <a:solidFill>
              <a:srgbClr val="1F2D3D"/>
            </a:solidFill>
          </a:ln>
        </p:spPr>
      </p:cxnSp>
      <p:cxnSp>
        <p:nvCxnSpPr>
          <p:cNvPr id="64" name="c64"/>
          <p:cNvCxnSpPr/>
          <p:nvPr/>
        </p:nvCxnSpPr>
        <p:spPr>
          <a:xfrm flipV="1">
            <a:off x="857250" y="2000250"/>
            <a:ext cx="9525" cy="142875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65" name="s65"/>
          <p:cNvSpPr/>
          <p:nvPr/>
        </p:nvSpPr>
        <p:spPr>
          <a:xfrm>
            <a:off x="77152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6" name="s66"/>
          <p:cNvSpPr/>
          <p:nvPr/>
        </p:nvSpPr>
        <p:spPr>
          <a:xfrm>
            <a:off x="190500" y="17145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Authorisation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D0</a:t>
            </a:r>
          </a:p>
        </p:txBody>
      </p:sp>
      <p:cxnSp>
        <p:nvCxnSpPr>
          <p:cNvPr id="67" name="c67"/>
          <p:cNvCxnSpPr/>
          <p:nvPr/>
        </p:nvCxnSpPr>
        <p:spPr>
          <a:xfrm flipV="1">
            <a:off x="1485900" y="2571750"/>
            <a:ext cx="9525" cy="85725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68" name="s68"/>
          <p:cNvSpPr/>
          <p:nvPr/>
        </p:nvSpPr>
        <p:spPr>
          <a:xfrm>
            <a:off x="140017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9" name="s69"/>
          <p:cNvSpPr/>
          <p:nvPr/>
        </p:nvSpPr>
        <p:spPr>
          <a:xfrm>
            <a:off x="819150" y="22860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Kick-off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D3</a:t>
            </a:r>
          </a:p>
        </p:txBody>
      </p:sp>
      <p:cxnSp>
        <p:nvCxnSpPr>
          <p:cNvPr id="70" name="c70"/>
          <p:cNvCxnSpPr/>
          <p:nvPr/>
        </p:nvCxnSpPr>
        <p:spPr>
          <a:xfrm>
            <a:off x="2114550" y="3429000"/>
            <a:ext cx="9525" cy="57150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71" name="s71"/>
          <p:cNvSpPr/>
          <p:nvPr/>
        </p:nvSpPr>
        <p:spPr>
          <a:xfrm>
            <a:off x="202882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2" name="s72"/>
          <p:cNvSpPr/>
          <p:nvPr/>
        </p:nvSpPr>
        <p:spPr>
          <a:xfrm>
            <a:off x="1447800" y="40195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Compliance confirmed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D17</a:t>
            </a:r>
          </a:p>
        </p:txBody>
      </p:sp>
      <p:cxnSp>
        <p:nvCxnSpPr>
          <p:cNvPr id="73" name="c73"/>
          <p:cNvCxnSpPr/>
          <p:nvPr/>
        </p:nvCxnSpPr>
        <p:spPr>
          <a:xfrm>
            <a:off x="2743200" y="3429000"/>
            <a:ext cx="9525" cy="114300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74" name="s74"/>
          <p:cNvSpPr/>
          <p:nvPr/>
        </p:nvSpPr>
        <p:spPr>
          <a:xfrm>
            <a:off x="265747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5" name="s75"/>
          <p:cNvSpPr/>
          <p:nvPr/>
        </p:nvSpPr>
        <p:spPr>
          <a:xfrm>
            <a:off x="2076450" y="45910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Strategy approved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D25</a:t>
            </a:r>
          </a:p>
        </p:txBody>
      </p:sp>
      <p:cxnSp>
        <p:nvCxnSpPr>
          <p:cNvPr id="76" name="c76"/>
          <p:cNvCxnSpPr/>
          <p:nvPr/>
        </p:nvCxnSpPr>
        <p:spPr>
          <a:xfrm flipV="1">
            <a:off x="3371850" y="2000250"/>
            <a:ext cx="9525" cy="142875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77" name="s77"/>
          <p:cNvSpPr/>
          <p:nvPr/>
        </p:nvSpPr>
        <p:spPr>
          <a:xfrm>
            <a:off x="328612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8" name="s78"/>
          <p:cNvSpPr/>
          <p:nvPr/>
        </p:nvSpPr>
        <p:spPr>
          <a:xfrm>
            <a:off x="2705100" y="17145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Claims approved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D29</a:t>
            </a:r>
          </a:p>
        </p:txBody>
      </p:sp>
      <p:cxnSp>
        <p:nvCxnSpPr>
          <p:cNvPr id="79" name="c79"/>
          <p:cNvCxnSpPr/>
          <p:nvPr/>
        </p:nvCxnSpPr>
        <p:spPr>
          <a:xfrm flipV="1">
            <a:off x="4000500" y="2571750"/>
            <a:ext cx="9525" cy="85725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80" name="s80"/>
          <p:cNvSpPr/>
          <p:nvPr/>
        </p:nvSpPr>
        <p:spPr>
          <a:xfrm>
            <a:off x="391477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1" name="s81"/>
          <p:cNvSpPr/>
          <p:nvPr/>
        </p:nvSpPr>
        <p:spPr>
          <a:xfrm>
            <a:off x="3333750" y="22860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Lead handling ready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D36</a:t>
            </a:r>
          </a:p>
        </p:txBody>
      </p:sp>
      <p:cxnSp>
        <p:nvCxnSpPr>
          <p:cNvPr id="82" name="c82"/>
          <p:cNvCxnSpPr/>
          <p:nvPr/>
        </p:nvCxnSpPr>
        <p:spPr>
          <a:xfrm>
            <a:off x="4629150" y="3429000"/>
            <a:ext cx="9525" cy="57150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83" name="s83"/>
          <p:cNvSpPr/>
          <p:nvPr/>
        </p:nvSpPr>
        <p:spPr>
          <a:xfrm>
            <a:off x="454342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4" name="s84"/>
          <p:cNvSpPr/>
          <p:nvPr/>
        </p:nvSpPr>
        <p:spPr>
          <a:xfrm>
            <a:off x="3962400" y="40195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Landing pages approved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D56</a:t>
            </a:r>
          </a:p>
        </p:txBody>
      </p:sp>
      <p:cxnSp>
        <p:nvCxnSpPr>
          <p:cNvPr id="85" name="c85"/>
          <p:cNvCxnSpPr/>
          <p:nvPr/>
        </p:nvCxnSpPr>
        <p:spPr>
          <a:xfrm>
            <a:off x="5257800" y="3429000"/>
            <a:ext cx="9525" cy="114300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86" name="s86"/>
          <p:cNvSpPr/>
          <p:nvPr/>
        </p:nvSpPr>
        <p:spPr>
          <a:xfrm>
            <a:off x="517207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7" name="s87"/>
          <p:cNvSpPr/>
          <p:nvPr/>
        </p:nvSpPr>
        <p:spPr>
          <a:xfrm>
            <a:off x="4591050" y="45910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Tracking approved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D59</a:t>
            </a:r>
          </a:p>
        </p:txBody>
      </p:sp>
      <p:cxnSp>
        <p:nvCxnSpPr>
          <p:cNvPr id="88" name="c88"/>
          <p:cNvCxnSpPr/>
          <p:nvPr/>
        </p:nvCxnSpPr>
        <p:spPr>
          <a:xfrm flipV="1">
            <a:off x="5886450" y="2000250"/>
            <a:ext cx="9525" cy="1428750"/>
          </a:xfrm>
          <a:prstGeom prst="line">
            <a:avLst/>
          </a:prstGeom>
          <a:ln w="9525">
            <a:solidFill>
              <a:srgbClr val="1F2D3D"/>
            </a:solidFill>
          </a:ln>
        </p:spPr>
      </p:cxnSp>
      <p:sp>
        <p:nvSpPr>
          <p:cNvPr id="89" name="s89"/>
          <p:cNvSpPr/>
          <p:nvPr/>
        </p:nvSpPr>
        <p:spPr>
          <a:xfrm>
            <a:off x="5800725" y="3343275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0" name="s90"/>
          <p:cNvSpPr/>
          <p:nvPr/>
        </p:nvSpPr>
        <p:spPr>
          <a:xfrm>
            <a:off x="5219700" y="17145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Campaigns approved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D63</a:t>
            </a:r>
          </a:p>
        </p:txBody>
      </p:sp>
      <p:cxnSp>
        <p:nvCxnSpPr>
          <p:cNvPr id="91" name="c91"/>
          <p:cNvCxnSpPr/>
          <p:nvPr/>
        </p:nvCxnSpPr>
        <p:spPr>
          <a:xfrm flipV="1">
            <a:off x="6515100" y="2571750"/>
            <a:ext cx="9525" cy="8572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92" name="s92"/>
          <p:cNvSpPr/>
          <p:nvPr/>
        </p:nvSpPr>
        <p:spPr>
          <a:xfrm>
            <a:off x="642937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3" name="s93"/>
          <p:cNvSpPr/>
          <p:nvPr/>
        </p:nvSpPr>
        <p:spPr>
          <a:xfrm>
            <a:off x="5848350" y="22860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1">
                <a:solidFill>
                  <a:srgbClr val="1A1A1A"/>
                </a:solidFill>
                <a:latin typeface="Arial"/>
              </a:rPr>
              <a:t>CONTROLLED LAUNCH</a:t>
            </a:r>
          </a:p>
          <a:p>
            <a:pPr algn="ctr"/>
            <a:r>
              <a:rPr lang="en-US" sz="900" b="1">
                <a:solidFill>
                  <a:srgbClr val="1A1A1A"/>
                </a:solidFill>
                <a:latin typeface="Arial"/>
              </a:rPr>
              <a:t>D69</a:t>
            </a:r>
          </a:p>
        </p:txBody>
      </p:sp>
      <p:cxnSp>
        <p:nvCxnSpPr>
          <p:cNvPr id="94" name="c94"/>
          <p:cNvCxnSpPr/>
          <p:nvPr/>
        </p:nvCxnSpPr>
        <p:spPr>
          <a:xfrm>
            <a:off x="7143750" y="3429000"/>
            <a:ext cx="9525" cy="57150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95" name="s95"/>
          <p:cNvSpPr/>
          <p:nvPr/>
        </p:nvSpPr>
        <p:spPr>
          <a:xfrm>
            <a:off x="705802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6" name="s96"/>
          <p:cNvSpPr/>
          <p:nvPr/>
        </p:nvSpPr>
        <p:spPr>
          <a:xfrm>
            <a:off x="6477000" y="40195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7 review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D76</a:t>
            </a:r>
          </a:p>
        </p:txBody>
      </p:sp>
      <p:cxnSp>
        <p:nvCxnSpPr>
          <p:cNvPr id="97" name="c97"/>
          <p:cNvCxnSpPr/>
          <p:nvPr/>
        </p:nvCxnSpPr>
        <p:spPr>
          <a:xfrm>
            <a:off x="7772400" y="3429000"/>
            <a:ext cx="9525" cy="114300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98" name="s98"/>
          <p:cNvSpPr/>
          <p:nvPr/>
        </p:nvSpPr>
        <p:spPr>
          <a:xfrm>
            <a:off x="768667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9" name="s99"/>
          <p:cNvSpPr/>
          <p:nvPr/>
        </p:nvSpPr>
        <p:spPr>
          <a:xfrm>
            <a:off x="7105650" y="45910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14 review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D83</a:t>
            </a:r>
          </a:p>
        </p:txBody>
      </p:sp>
      <p:cxnSp>
        <p:nvCxnSpPr>
          <p:cNvPr id="100" name="c100"/>
          <p:cNvCxnSpPr/>
          <p:nvPr/>
        </p:nvCxnSpPr>
        <p:spPr>
          <a:xfrm flipV="1">
            <a:off x="8401050" y="2000250"/>
            <a:ext cx="9525" cy="14287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101" name="s101"/>
          <p:cNvSpPr/>
          <p:nvPr/>
        </p:nvSpPr>
        <p:spPr>
          <a:xfrm>
            <a:off x="831532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2" name="s102"/>
          <p:cNvSpPr/>
          <p:nvPr/>
        </p:nvSpPr>
        <p:spPr>
          <a:xfrm>
            <a:off x="7734300" y="17145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30 review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D99</a:t>
            </a:r>
          </a:p>
        </p:txBody>
      </p:sp>
      <p:cxnSp>
        <p:nvCxnSpPr>
          <p:cNvPr id="103" name="c103"/>
          <p:cNvCxnSpPr/>
          <p:nvPr/>
        </p:nvCxnSpPr>
        <p:spPr>
          <a:xfrm flipV="1">
            <a:off x="9029700" y="2571750"/>
            <a:ext cx="9525" cy="8572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104" name="s104"/>
          <p:cNvSpPr/>
          <p:nvPr/>
        </p:nvSpPr>
        <p:spPr>
          <a:xfrm>
            <a:off x="894397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5" name="s105"/>
          <p:cNvSpPr/>
          <p:nvPr/>
        </p:nvSpPr>
        <p:spPr>
          <a:xfrm>
            <a:off x="8362950" y="22860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45 checkpoint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D114</a:t>
            </a:r>
          </a:p>
        </p:txBody>
      </p:sp>
      <p:cxnSp>
        <p:nvCxnSpPr>
          <p:cNvPr id="106" name="c106"/>
          <p:cNvCxnSpPr/>
          <p:nvPr/>
        </p:nvCxnSpPr>
        <p:spPr>
          <a:xfrm>
            <a:off x="9658350" y="3429000"/>
            <a:ext cx="9525" cy="57150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107" name="s107"/>
          <p:cNvSpPr/>
          <p:nvPr/>
        </p:nvSpPr>
        <p:spPr>
          <a:xfrm>
            <a:off x="957262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8" name="s108"/>
          <p:cNvSpPr/>
          <p:nvPr/>
        </p:nvSpPr>
        <p:spPr>
          <a:xfrm>
            <a:off x="8991600" y="40195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60 review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D129</a:t>
            </a:r>
          </a:p>
        </p:txBody>
      </p:sp>
      <p:cxnSp>
        <p:nvCxnSpPr>
          <p:cNvPr id="109" name="c109"/>
          <p:cNvCxnSpPr/>
          <p:nvPr/>
        </p:nvCxnSpPr>
        <p:spPr>
          <a:xfrm>
            <a:off x="10287000" y="3429000"/>
            <a:ext cx="9525" cy="114300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110" name="s110"/>
          <p:cNvSpPr/>
          <p:nvPr/>
        </p:nvSpPr>
        <p:spPr>
          <a:xfrm>
            <a:off x="1020127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1" name="s111"/>
          <p:cNvSpPr/>
          <p:nvPr/>
        </p:nvSpPr>
        <p:spPr>
          <a:xfrm>
            <a:off x="9620250" y="459105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75 checkpoint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D144</a:t>
            </a:r>
          </a:p>
        </p:txBody>
      </p:sp>
      <p:cxnSp>
        <p:nvCxnSpPr>
          <p:cNvPr id="112" name="c112"/>
          <p:cNvCxnSpPr/>
          <p:nvPr/>
        </p:nvCxnSpPr>
        <p:spPr>
          <a:xfrm flipV="1">
            <a:off x="10915650" y="2000250"/>
            <a:ext cx="9525" cy="14287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113" name="s113"/>
          <p:cNvSpPr/>
          <p:nvPr/>
        </p:nvSpPr>
        <p:spPr>
          <a:xfrm>
            <a:off x="10829925" y="3343275"/>
            <a:ext cx="171450" cy="171450"/>
          </a:xfrm>
          <a:prstGeom prst="diamond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4" name="s114"/>
          <p:cNvSpPr/>
          <p:nvPr/>
        </p:nvSpPr>
        <p:spPr>
          <a:xfrm>
            <a:off x="10248900" y="17145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Day 90 decision</a:t>
            </a:r>
          </a:p>
          <a:p>
            <a:pPr algn="ctr"/>
            <a:r>
              <a:rPr lang="en-US" sz="900" b="0">
                <a:solidFill>
                  <a:srgbClr val="1A1A1A"/>
                </a:solidFill>
                <a:latin typeface="Arial"/>
              </a:rPr>
              <a:t>D159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115"/>
          <p:cNvSpPr/>
          <p:nvPr/>
        </p:nvSpPr>
        <p:spPr>
          <a:xfrm>
            <a:off x="666750" y="476250"/>
            <a:ext cx="1085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2000" b="1">
                <a:solidFill>
                  <a:srgbClr val="1A1A1A"/>
                </a:solidFill>
                <a:latin typeface="Arial"/>
              </a:rPr>
              <a:t>Programme Gantt — Overview (calendar days from authorisation)</a:t>
            </a:r>
          </a:p>
        </p:txBody>
      </p:sp>
      <p:cxnSp>
        <p:nvCxnSpPr>
          <p:cNvPr id="116" name="c116"/>
          <p:cNvCxnSpPr/>
          <p:nvPr/>
        </p:nvCxnSpPr>
        <p:spPr>
          <a:xfrm>
            <a:off x="85725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17" name="s117"/>
          <p:cNvSpPr/>
          <p:nvPr/>
        </p:nvSpPr>
        <p:spPr>
          <a:xfrm>
            <a:off x="70485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D0</a:t>
            </a:r>
          </a:p>
        </p:txBody>
      </p:sp>
      <p:cxnSp>
        <p:nvCxnSpPr>
          <p:cNvPr id="118" name="c118"/>
          <p:cNvCxnSpPr/>
          <p:nvPr/>
        </p:nvCxnSpPr>
        <p:spPr>
          <a:xfrm>
            <a:off x="173736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19" name="s119"/>
          <p:cNvSpPr/>
          <p:nvPr/>
        </p:nvSpPr>
        <p:spPr>
          <a:xfrm>
            <a:off x="158496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D14</a:t>
            </a:r>
          </a:p>
        </p:txBody>
      </p:sp>
      <p:cxnSp>
        <p:nvCxnSpPr>
          <p:cNvPr id="120" name="c120"/>
          <p:cNvCxnSpPr/>
          <p:nvPr/>
        </p:nvCxnSpPr>
        <p:spPr>
          <a:xfrm>
            <a:off x="261747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21" name="s121"/>
          <p:cNvSpPr/>
          <p:nvPr/>
        </p:nvSpPr>
        <p:spPr>
          <a:xfrm>
            <a:off x="246507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D28</a:t>
            </a:r>
          </a:p>
        </p:txBody>
      </p:sp>
      <p:cxnSp>
        <p:nvCxnSpPr>
          <p:cNvPr id="122" name="c122"/>
          <p:cNvCxnSpPr/>
          <p:nvPr/>
        </p:nvCxnSpPr>
        <p:spPr>
          <a:xfrm>
            <a:off x="349758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23" name="s123"/>
          <p:cNvSpPr/>
          <p:nvPr/>
        </p:nvSpPr>
        <p:spPr>
          <a:xfrm>
            <a:off x="334518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D42</a:t>
            </a:r>
          </a:p>
        </p:txBody>
      </p:sp>
      <p:cxnSp>
        <p:nvCxnSpPr>
          <p:cNvPr id="124" name="c124"/>
          <p:cNvCxnSpPr/>
          <p:nvPr/>
        </p:nvCxnSpPr>
        <p:spPr>
          <a:xfrm>
            <a:off x="437769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25" name="s125"/>
          <p:cNvSpPr/>
          <p:nvPr/>
        </p:nvSpPr>
        <p:spPr>
          <a:xfrm>
            <a:off x="422529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D56</a:t>
            </a:r>
          </a:p>
        </p:txBody>
      </p:sp>
      <p:cxnSp>
        <p:nvCxnSpPr>
          <p:cNvPr id="126" name="c126"/>
          <p:cNvCxnSpPr/>
          <p:nvPr/>
        </p:nvCxnSpPr>
        <p:spPr>
          <a:xfrm>
            <a:off x="525780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27" name="s127"/>
          <p:cNvSpPr/>
          <p:nvPr/>
        </p:nvSpPr>
        <p:spPr>
          <a:xfrm>
            <a:off x="510540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D70</a:t>
            </a:r>
          </a:p>
        </p:txBody>
      </p:sp>
      <p:cxnSp>
        <p:nvCxnSpPr>
          <p:cNvPr id="128" name="c128"/>
          <p:cNvCxnSpPr/>
          <p:nvPr/>
        </p:nvCxnSpPr>
        <p:spPr>
          <a:xfrm>
            <a:off x="613791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29" name="s129"/>
          <p:cNvSpPr/>
          <p:nvPr/>
        </p:nvSpPr>
        <p:spPr>
          <a:xfrm>
            <a:off x="598551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D84</a:t>
            </a:r>
          </a:p>
        </p:txBody>
      </p:sp>
      <p:cxnSp>
        <p:nvCxnSpPr>
          <p:cNvPr id="130" name="c130"/>
          <p:cNvCxnSpPr/>
          <p:nvPr/>
        </p:nvCxnSpPr>
        <p:spPr>
          <a:xfrm>
            <a:off x="701802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31" name="s131"/>
          <p:cNvSpPr/>
          <p:nvPr/>
        </p:nvSpPr>
        <p:spPr>
          <a:xfrm>
            <a:off x="686562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D98</a:t>
            </a:r>
          </a:p>
        </p:txBody>
      </p:sp>
      <p:cxnSp>
        <p:nvCxnSpPr>
          <p:cNvPr id="132" name="c132"/>
          <p:cNvCxnSpPr/>
          <p:nvPr/>
        </p:nvCxnSpPr>
        <p:spPr>
          <a:xfrm>
            <a:off x="789813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33" name="s133"/>
          <p:cNvSpPr/>
          <p:nvPr/>
        </p:nvSpPr>
        <p:spPr>
          <a:xfrm>
            <a:off x="774573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D112</a:t>
            </a:r>
          </a:p>
        </p:txBody>
      </p:sp>
      <p:cxnSp>
        <p:nvCxnSpPr>
          <p:cNvPr id="134" name="c134"/>
          <p:cNvCxnSpPr/>
          <p:nvPr/>
        </p:nvCxnSpPr>
        <p:spPr>
          <a:xfrm>
            <a:off x="877824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35" name="s135"/>
          <p:cNvSpPr/>
          <p:nvPr/>
        </p:nvSpPr>
        <p:spPr>
          <a:xfrm>
            <a:off x="862584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D126</a:t>
            </a:r>
          </a:p>
        </p:txBody>
      </p:sp>
      <p:cxnSp>
        <p:nvCxnSpPr>
          <p:cNvPr id="136" name="c136"/>
          <p:cNvCxnSpPr/>
          <p:nvPr/>
        </p:nvCxnSpPr>
        <p:spPr>
          <a:xfrm>
            <a:off x="965835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37" name="s137"/>
          <p:cNvSpPr/>
          <p:nvPr/>
        </p:nvSpPr>
        <p:spPr>
          <a:xfrm>
            <a:off x="950595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D140</a:t>
            </a:r>
          </a:p>
        </p:txBody>
      </p:sp>
      <p:cxnSp>
        <p:nvCxnSpPr>
          <p:cNvPr id="138" name="c138"/>
          <p:cNvCxnSpPr/>
          <p:nvPr/>
        </p:nvCxnSpPr>
        <p:spPr>
          <a:xfrm>
            <a:off x="10538460" y="1428750"/>
            <a:ext cx="9525" cy="285750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39" name="s139"/>
          <p:cNvSpPr/>
          <p:nvPr/>
        </p:nvSpPr>
        <p:spPr>
          <a:xfrm>
            <a:off x="10386060" y="12001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5A6672"/>
                </a:solidFill>
                <a:latin typeface="Arial"/>
              </a:rPr>
              <a:t>D154</a:t>
            </a:r>
          </a:p>
        </p:txBody>
      </p:sp>
      <p:sp>
        <p:nvSpPr>
          <p:cNvPr id="140" name="s140"/>
          <p:cNvSpPr/>
          <p:nvPr/>
        </p:nvSpPr>
        <p:spPr>
          <a:xfrm>
            <a:off x="666750" y="1809750"/>
            <a:ext cx="114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/>
              </a:rPr>
              <a:t>Stage A prep</a:t>
            </a:r>
          </a:p>
        </p:txBody>
      </p:sp>
      <p:sp>
        <p:nvSpPr>
          <p:cNvPr id="141" name="s141"/>
          <p:cNvSpPr/>
          <p:nvPr/>
        </p:nvSpPr>
        <p:spPr>
          <a:xfrm>
            <a:off x="857250" y="1809750"/>
            <a:ext cx="4337685" cy="247650"/>
          </a:xfrm>
          <a:prstGeom prst="rect">
            <a:avLst/>
          </a:prstGeom>
          <a:solidFill>
            <a:srgbClr val="3F6690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FFFFFF"/>
                </a:solidFill>
                <a:latin typeface="Arial"/>
              </a:rPr>
              <a:t>49 working days (~10 wks)</a:t>
            </a:r>
          </a:p>
        </p:txBody>
      </p:sp>
      <p:sp>
        <p:nvSpPr>
          <p:cNvPr id="142" name="s142"/>
          <p:cNvSpPr/>
          <p:nvPr/>
        </p:nvSpPr>
        <p:spPr>
          <a:xfrm>
            <a:off x="666750" y="2286000"/>
            <a:ext cx="114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/>
              </a:rPr>
              <a:t>Stage B live</a:t>
            </a:r>
          </a:p>
        </p:txBody>
      </p:sp>
      <p:sp>
        <p:nvSpPr>
          <p:cNvPr id="143" name="s143"/>
          <p:cNvSpPr/>
          <p:nvPr/>
        </p:nvSpPr>
        <p:spPr>
          <a:xfrm>
            <a:off x="5194935" y="2286000"/>
            <a:ext cx="5657850" cy="247650"/>
          </a:xfrm>
          <a:prstGeom prst="rect">
            <a:avLst/>
          </a:prstGeom>
          <a:solidFill>
            <a:srgbClr val="B5322F"/>
          </a:solidFill>
          <a:ln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0">
                <a:solidFill>
                  <a:srgbClr val="FFFFFF"/>
                </a:solidFill>
                <a:latin typeface="Arial"/>
              </a:rPr>
              <a:t>90 live days</a:t>
            </a:r>
          </a:p>
        </p:txBody>
      </p:sp>
      <p:cxnSp>
        <p:nvCxnSpPr>
          <p:cNvPr id="144" name="c144"/>
          <p:cNvCxnSpPr/>
          <p:nvPr/>
        </p:nvCxnSpPr>
        <p:spPr>
          <a:xfrm>
            <a:off x="5194935" y="1714500"/>
            <a:ext cx="9525" cy="2571750"/>
          </a:xfrm>
          <a:prstGeom prst="line">
            <a:avLst/>
          </a:prstGeom>
          <a:ln w="19050">
            <a:solidFill>
              <a:srgbClr val="1F2D3D"/>
            </a:solidFill>
          </a:ln>
        </p:spPr>
      </p:cxnSp>
      <p:sp>
        <p:nvSpPr>
          <p:cNvPr id="145" name="s145"/>
          <p:cNvSpPr/>
          <p:nvPr/>
        </p:nvSpPr>
        <p:spPr>
          <a:xfrm>
            <a:off x="4813935" y="43434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1">
                <a:solidFill>
                  <a:srgbClr val="1F2D3D"/>
                </a:solidFill>
                <a:latin typeface="Arial"/>
              </a:rPr>
              <a:t>LAUNCH D69</a:t>
            </a:r>
          </a:p>
        </p:txBody>
      </p:sp>
      <p:sp>
        <p:nvSpPr>
          <p:cNvPr id="146" name="s146"/>
          <p:cNvSpPr/>
          <p:nvPr/>
        </p:nvSpPr>
        <p:spPr>
          <a:xfrm>
            <a:off x="666750" y="2857500"/>
            <a:ext cx="114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/>
              </a:rPr>
              <a:t>Milestones</a:t>
            </a:r>
          </a:p>
        </p:txBody>
      </p:sp>
      <p:sp>
        <p:nvSpPr>
          <p:cNvPr id="147" name="s147"/>
          <p:cNvSpPr/>
          <p:nvPr/>
        </p:nvSpPr>
        <p:spPr>
          <a:xfrm>
            <a:off x="2343150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8" name="s148"/>
          <p:cNvSpPr/>
          <p:nvPr/>
        </p:nvSpPr>
        <p:spPr>
          <a:xfrm>
            <a:off x="2200275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M2</a:t>
            </a:r>
          </a:p>
        </p:txBody>
      </p:sp>
      <p:sp>
        <p:nvSpPr>
          <p:cNvPr id="149" name="s149"/>
          <p:cNvSpPr/>
          <p:nvPr/>
        </p:nvSpPr>
        <p:spPr>
          <a:xfrm>
            <a:off x="2594610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0" name="s150"/>
          <p:cNvSpPr/>
          <p:nvPr/>
        </p:nvSpPr>
        <p:spPr>
          <a:xfrm>
            <a:off x="2451735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M1</a:t>
            </a:r>
          </a:p>
        </p:txBody>
      </p:sp>
      <p:sp>
        <p:nvSpPr>
          <p:cNvPr id="151" name="s151"/>
          <p:cNvSpPr/>
          <p:nvPr/>
        </p:nvSpPr>
        <p:spPr>
          <a:xfrm>
            <a:off x="4291965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2" name="s152"/>
          <p:cNvSpPr/>
          <p:nvPr/>
        </p:nvSpPr>
        <p:spPr>
          <a:xfrm>
            <a:off x="4149090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M3</a:t>
            </a:r>
          </a:p>
        </p:txBody>
      </p:sp>
      <p:sp>
        <p:nvSpPr>
          <p:cNvPr id="153" name="s153"/>
          <p:cNvSpPr/>
          <p:nvPr/>
        </p:nvSpPr>
        <p:spPr>
          <a:xfrm>
            <a:off x="4732020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4" name="s154"/>
          <p:cNvSpPr/>
          <p:nvPr/>
        </p:nvSpPr>
        <p:spPr>
          <a:xfrm>
            <a:off x="4589145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M6</a:t>
            </a:r>
          </a:p>
        </p:txBody>
      </p:sp>
      <p:sp>
        <p:nvSpPr>
          <p:cNvPr id="155" name="s155"/>
          <p:cNvSpPr/>
          <p:nvPr/>
        </p:nvSpPr>
        <p:spPr>
          <a:xfrm>
            <a:off x="6995160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6" name="s156"/>
          <p:cNvSpPr/>
          <p:nvPr/>
        </p:nvSpPr>
        <p:spPr>
          <a:xfrm>
            <a:off x="6852285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D30</a:t>
            </a:r>
          </a:p>
        </p:txBody>
      </p:sp>
      <p:sp>
        <p:nvSpPr>
          <p:cNvPr id="157" name="s157"/>
          <p:cNvSpPr/>
          <p:nvPr/>
        </p:nvSpPr>
        <p:spPr>
          <a:xfrm>
            <a:off x="8881110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8" name="s158"/>
          <p:cNvSpPr/>
          <p:nvPr/>
        </p:nvSpPr>
        <p:spPr>
          <a:xfrm>
            <a:off x="8738235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D60</a:t>
            </a:r>
          </a:p>
        </p:txBody>
      </p:sp>
      <p:sp>
        <p:nvSpPr>
          <p:cNvPr id="159" name="s159"/>
          <p:cNvSpPr/>
          <p:nvPr/>
        </p:nvSpPr>
        <p:spPr>
          <a:xfrm>
            <a:off x="10767060" y="2857500"/>
            <a:ext cx="171450" cy="171450"/>
          </a:xfrm>
          <a:prstGeom prst="diamond">
            <a:avLst/>
          </a:prstGeom>
          <a:solidFill>
            <a:srgbClr val="1F2D3D"/>
          </a:solidFill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9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60" name="s160"/>
          <p:cNvSpPr/>
          <p:nvPr/>
        </p:nvSpPr>
        <p:spPr>
          <a:xfrm>
            <a:off x="10624185" y="30670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ctr"/>
            <a:r>
              <a:rPr lang="en-US" sz="800" b="0">
                <a:solidFill>
                  <a:srgbClr val="1A1A1A"/>
                </a:solidFill>
                <a:latin typeface="Arial"/>
              </a:rPr>
              <a:t>D90</a:t>
            </a:r>
          </a:p>
        </p:txBody>
      </p:sp>
      <p:cxnSp>
        <p:nvCxnSpPr>
          <p:cNvPr id="161" name="c161"/>
          <p:cNvCxnSpPr/>
          <p:nvPr/>
        </p:nvCxnSpPr>
        <p:spPr>
          <a:xfrm>
            <a:off x="7080885" y="1714500"/>
            <a:ext cx="9525" cy="25717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cxnSp>
        <p:nvCxnSpPr>
          <p:cNvPr id="162" name="c162"/>
          <p:cNvCxnSpPr/>
          <p:nvPr/>
        </p:nvCxnSpPr>
        <p:spPr>
          <a:xfrm>
            <a:off x="8966835" y="1714500"/>
            <a:ext cx="9525" cy="25717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cxnSp>
        <p:nvCxnSpPr>
          <p:cNvPr id="163" name="c163"/>
          <p:cNvCxnSpPr/>
          <p:nvPr/>
        </p:nvCxnSpPr>
        <p:spPr>
          <a:xfrm>
            <a:off x="10852785" y="1714500"/>
            <a:ext cx="9525" cy="2571750"/>
          </a:xfrm>
          <a:prstGeom prst="line">
            <a:avLst/>
          </a:prstGeom>
          <a:ln w="9525">
            <a:solidFill>
              <a:srgbClr val="B5322F"/>
            </a:solidFill>
          </a:ln>
        </p:spPr>
      </p:cxnSp>
      <p:sp>
        <p:nvSpPr>
          <p:cNvPr id="164" name="s164"/>
          <p:cNvSpPr/>
          <p:nvPr/>
        </p:nvSpPr>
        <p:spPr>
          <a:xfrm>
            <a:off x="666750" y="4953000"/>
            <a:ext cx="10858500" cy="2476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100" b="0">
                <a:solidFill>
                  <a:srgbClr val="5A6672"/>
                </a:solidFill>
                <a:latin typeface="Arial"/>
              </a:rPr>
              <a:t>Detailed per-activity Gantt (Stage A &amp; B) is in the SVG folder, the .drawio file, and the Excel/MS Project CSV.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165"/>
          <p:cNvSpPr/>
          <p:nvPr/>
        </p:nvSpPr>
        <p:spPr>
          <a:xfrm>
            <a:off x="666750" y="38100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800" b="1">
                <a:solidFill>
                  <a:srgbClr val="1A1A1A"/>
                </a:solidFill>
                <a:latin typeface="Arial"/>
              </a:rPr>
              <a:t>RACI Matrix — R Responsible · A Accountable · C Consulted · I Informed</a:t>
            </a:r>
          </a:p>
        </p:txBody>
      </p:sp>
      <p:graphicFrame>
        <p:nvGraphicFramePr>
          <p:cNvPr id="166" name="t166"/>
          <p:cNvGraphicFramePr/>
          <p:nvPr/>
        </p:nvGraphicFramePr>
        <p:xfrm>
          <a:off x="666750" y="800100"/>
          <a:ext cx="10229850" cy="3219450"/>
        </p:xfrm>
        <a:graphic>
          <a:graphicData uri="http://schemas.openxmlformats.org/drawingml/2006/table">
            <a:tbl>
              <a:tblPr firstRow="1"/>
              <a:tblGrid>
                <a:gridCol w="2857500"/>
                <a:gridCol w="819150"/>
                <a:gridCol w="819150"/>
                <a:gridCol w="819150"/>
                <a:gridCol w="819150"/>
                <a:gridCol w="819150"/>
                <a:gridCol w="819150"/>
                <a:gridCol w="819150"/>
                <a:gridCol w="819150"/>
                <a:gridCol w="819150"/>
              </a:tblGrid>
              <a:tr h="24765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Sponsor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Compl/Legal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Interon PL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Paid Media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Content/SEO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Dev/Tech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Proposal &amp; budget approval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Compliance &amp; claims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Strategy &amp; research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Website &amp; landing pages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Tracking &amp; measurement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Paid search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Meta retargeting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SEO &amp; content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Partner &amp; LinkedIn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Email &amp; WhatsApp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CRM &amp; lead mgmt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Reporting &amp; optimisation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Project management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8288" marR="18288" marT="4572" marB="4572" anchor="ctr">
                    <a:solidFill>
                      <a:srgbClr val="B5322F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18288" marR="18288" marT="4572" marB="4572" anchor="ctr">
                    <a:solidFill>
                      <a:srgbClr val="3F6690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8288" marR="18288" marT="4572" marB="4572" anchor="ctr">
                    <a:solidFill>
                      <a:srgbClr val="D7DDE3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5A667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18288" marR="18288" marT="4572" marB="4572" anchor="ctr">
                    <a:solidFill>
                      <a:srgbClr val="EEF1F4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167"/>
          <p:cNvSpPr/>
          <p:nvPr/>
        </p:nvSpPr>
        <p:spPr>
          <a:xfrm>
            <a:off x="666750" y="38100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800" b="1">
                <a:solidFill>
                  <a:srgbClr val="1A1A1A"/>
                </a:solidFill>
                <a:latin typeface="Arial"/>
              </a:rPr>
              <a:t>Risk Register (severity: red High · amber Medium · green Low)</a:t>
            </a:r>
          </a:p>
        </p:txBody>
      </p:sp>
      <p:graphicFrame>
        <p:nvGraphicFramePr>
          <p:cNvPr id="168" name="t168"/>
          <p:cNvGraphicFramePr/>
          <p:nvPr/>
        </p:nvGraphicFramePr>
        <p:xfrm>
          <a:off x="666750" y="800100"/>
          <a:ext cx="8763000" cy="3448050"/>
        </p:xfrm>
        <a:graphic>
          <a:graphicData uri="http://schemas.openxmlformats.org/drawingml/2006/table">
            <a:tbl>
              <a:tblPr firstRow="1"/>
              <a:tblGrid>
                <a:gridCol w="666750"/>
                <a:gridCol w="4476750"/>
                <a:gridCol w="1143000"/>
                <a:gridCol w="1143000"/>
                <a:gridCol w="1333500"/>
              </a:tblGrid>
              <a:tr h="24765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Probability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18288" marR="18288" marT="4572" marB="4572" anchor="ctr">
                    <a:solidFill>
                      <a:srgbClr val="F0F3F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Compliance approval delay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Claims/ads rejected by platform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Poor landing page conversion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Slow lead response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R5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Poor lead quality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R6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Insufficient sales feedback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R7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Tracking gaps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R8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Budget pressure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18288" marR="18288" marT="4572" marB="4572" anchor="ctr">
                    <a:solidFill>
                      <a:srgbClr val="F2E4C9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R9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Platform restrictions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18288" marR="18288" marT="4572" marB="4572" anchor="ctr">
                    <a:solidFill>
                      <a:srgbClr val="F2E4C9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R10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Scope overlap / double charge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R11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Delayed client approvals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R12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CRM / lead process failure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R13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Build/marketing timeline mismatch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R14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Weak or unclear offer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noFill/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18288" marR="18288" marT="4572" marB="4572" anchor="ctr">
                    <a:solidFill>
                      <a:srgbClr val="E8C9C6"/>
                    </a:solidFill>
                    <a:lnL w="6350">
                      <a:solidFill>
                        <a:srgbClr val="C9D1D9"/>
                      </a:solidFill>
                    </a:lnL>
                    <a:lnR w="6350">
                      <a:solidFill>
                        <a:srgbClr val="C9D1D9"/>
                      </a:solidFill>
                    </a:lnR>
                    <a:lnT w="6350">
                      <a:solidFill>
                        <a:srgbClr val="C9D1D9"/>
                      </a:solidFill>
                    </a:lnT>
                    <a:lnB w="6350">
                      <a:solidFill>
                        <a:srgbClr val="C9D1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9" name="s169"/>
          <p:cNvSpPr/>
          <p:nvPr/>
        </p:nvSpPr>
        <p:spPr>
          <a:xfrm>
            <a:off x="666750" y="6191250"/>
            <a:ext cx="1085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anchor="t"/>
          <a:lstStyle/>
          <a:p>
            <a:pPr algn="l"/>
            <a:r>
              <a:rPr lang="en-US" sz="1000" b="0">
                <a:solidFill>
                  <a:srgbClr val="5A6672"/>
                </a:solidFill>
                <a:latin typeface="Arial"/>
              </a:rPr>
              <a:t>Full mitigations, owners and triggers are in RISK-REGISTER.html and MASTER-PROJECT-PLAN.md Section 13.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pFlo">
  <a:themeElements>
    <a:clrScheme name="PropFlo">
      <a:dk1>
        <a:sysClr val="windowText" lastClr="000000"/>
      </a:dk1>
      <a:lt1>
        <a:sysClr val="window" lastClr="FFFFFF"/>
      </a:lt1>
      <a:dk2>
        <a:srgbClr val="1F2D3D"/>
      </a:dk2>
      <a:lt2>
        <a:srgbClr val="EEF1F4"/>
      </a:lt2>
      <a:accent1>
        <a:srgbClr val="3F6690"/>
      </a:accent1>
      <a:accent2>
        <a:srgbClr val="B5322F"/>
      </a:accent2>
      <a:accent3>
        <a:srgbClr val="C07A1E"/>
      </a:accent3>
      <a:accent4>
        <a:srgbClr val="5A6672"/>
      </a:accent4>
      <a:accent5>
        <a:srgbClr val="2F4A63"/>
      </a:accent5>
      <a:accent6>
        <a:srgbClr val="6B8FB0"/>
      </a:accent6>
      <a:hlink>
        <a:srgbClr val="0563C1"/>
      </a:hlink>
      <a:folHlink>
        <a:srgbClr val="954F72"/>
      </a:folHlink>
    </a:clrScheme>
    <a:fontScheme name="PropFl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pFl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PropFlo Generator</Application>
  <Slides>7</Slides>
</Properties>
</file>

<file path=docProps/core.xml><?xml version="1.0" encoding="utf-8"?>
<cp:coreProperties xmlns:cp="http://schemas.openxmlformats.org/package/2006/metadata/core-properties" xmlns:dc="http://purl.org/dc/elements/1.1/">
  <dc:title>PropFlo Project Management Pack</dc:title>
  <dc:creator>Interon</dc:creator>
</cp:coreProperties>
</file>